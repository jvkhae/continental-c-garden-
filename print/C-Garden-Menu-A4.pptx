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484" y="164592"/>
            <a:ext cx="2103120" cy="1752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286000"/>
            <a:ext cx="7562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C7A2E"/>
                </a:solidFill>
                <a:latin typeface="Arial"/>
              </a:rPr>
              <a:t>M E N 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80360"/>
            <a:ext cx="3200400" cy="6949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1B5E20"/>
                </a:solidFill>
                <a:latin typeface="Georgia"/>
              </a:rPr>
              <a:t>Шар айраг</a:t>
            </a:r>
          </a:p>
          <a:p>
            <a:pPr>
              <a:spcBef>
                <a:spcPts val="700"/>
              </a:spcBef>
              <a:spcAft>
                <a:spcPts val="100"/>
              </a:spcAft>
              <a:tabLst>
                <a:tab pos="3200400" algn="r"/>
              </a:tabLst>
            </a:pPr>
            <a:r>
              <a:rPr sz="850" b="1">
                <a:solidFill>
                  <a:srgbClr val="9C7A2E"/>
                </a:solidFill>
                <a:latin typeface="Arial"/>
              </a:rPr>
              <a:t>САВНААС</a:t>
            </a:r>
            <a:r>
              <a:rPr sz="800">
                <a:solidFill>
                  <a:srgbClr val="778078"/>
                </a:solidFill>
                <a:latin typeface="Arial"/>
              </a:rPr>
              <a:t>	0.5Л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Сэнгүр</a:t>
            </a:r>
            <a:r>
              <a:rPr sz="1150" b="1">
                <a:solidFill>
                  <a:srgbClr val="9C7A2E"/>
                </a:solidFill>
                <a:latin typeface="Georgia"/>
              </a:rPr>
              <a:t>	15,000₮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Super Lite</a:t>
            </a:r>
            <a:r>
              <a:rPr sz="1150" b="1">
                <a:solidFill>
                  <a:srgbClr val="9C7A2E"/>
                </a:solidFill>
                <a:latin typeface="Georgia"/>
              </a:rPr>
              <a:t>	15,000₮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Altan Gobi</a:t>
            </a:r>
            <a:r>
              <a:rPr sz="1150" b="1">
                <a:solidFill>
                  <a:srgbClr val="9C7A2E"/>
                </a:solidFill>
                <a:latin typeface="Georgia"/>
              </a:rPr>
              <a:t>	16,000₮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Heineken</a:t>
            </a:r>
            <a:r>
              <a:rPr sz="1150" b="1">
                <a:solidFill>
                  <a:srgbClr val="9C7A2E"/>
                </a:solidFill>
                <a:latin typeface="Georgia"/>
              </a:rPr>
              <a:t>	16,500₮</a:t>
            </a:r>
          </a:p>
          <a:p>
            <a:pPr>
              <a:spcBef>
                <a:spcPts val="700"/>
              </a:spcBef>
              <a:spcAft>
                <a:spcPts val="100"/>
              </a:spcAft>
              <a:tabLst>
                <a:tab pos="3200400" algn="r"/>
              </a:tabLst>
            </a:pPr>
            <a:r>
              <a:rPr sz="850" b="1">
                <a:solidFill>
                  <a:srgbClr val="9C7A2E"/>
                </a:solidFill>
                <a:latin typeface="Arial"/>
              </a:rPr>
              <a:t>ЛААЗ</a:t>
            </a:r>
            <a:r>
              <a:rPr sz="800">
                <a:solidFill>
                  <a:srgbClr val="778078"/>
                </a:solidFill>
                <a:latin typeface="Arial"/>
              </a:rPr>
              <a:t>	0.5Л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Kaltenberg</a:t>
            </a:r>
            <a:r>
              <a:rPr sz="1150" b="1">
                <a:solidFill>
                  <a:srgbClr val="9C7A2E"/>
                </a:solidFill>
                <a:latin typeface="Georgia"/>
              </a:rPr>
              <a:t>	18,000₮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Altan Gobi</a:t>
            </a:r>
            <a:r>
              <a:rPr sz="1150" b="1">
                <a:solidFill>
                  <a:srgbClr val="9C7A2E"/>
                </a:solidFill>
                <a:latin typeface="Georgia"/>
              </a:rPr>
              <a:t>	16,000₮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Heineken</a:t>
            </a:r>
            <a:r>
              <a:rPr sz="1150" b="1">
                <a:solidFill>
                  <a:srgbClr val="9C7A2E"/>
                </a:solidFill>
                <a:latin typeface="Georgia"/>
              </a:rPr>
              <a:t>	15,000₮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Сэнгүр</a:t>
            </a:r>
            <a:r>
              <a:rPr sz="1150" b="1">
                <a:solidFill>
                  <a:srgbClr val="9C7A2E"/>
                </a:solidFill>
                <a:latin typeface="Georgia"/>
              </a:rPr>
              <a:t>	12,000₮</a:t>
            </a:r>
          </a:p>
          <a:p>
            <a:pPr>
              <a:spcBef>
                <a:spcPts val="700"/>
              </a:spcBef>
              <a:spcAft>
                <a:spcPts val="100"/>
              </a:spcAft>
              <a:tabLst>
                <a:tab pos="3200400" algn="r"/>
              </a:tabLst>
            </a:pPr>
            <a:r>
              <a:rPr sz="850" b="1">
                <a:solidFill>
                  <a:srgbClr val="9C7A2E"/>
                </a:solidFill>
                <a:latin typeface="Arial"/>
              </a:rPr>
              <a:t>ЛОНХ</a:t>
            </a:r>
            <a:r>
              <a:rPr sz="800">
                <a:solidFill>
                  <a:srgbClr val="778078"/>
                </a:solidFill>
                <a:latin typeface="Arial"/>
              </a:rPr>
              <a:t>	0.33Л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Heineken</a:t>
            </a:r>
            <a:r>
              <a:rPr sz="1150" b="1">
                <a:solidFill>
                  <a:srgbClr val="9C7A2E"/>
                </a:solidFill>
                <a:latin typeface="Georgia"/>
              </a:rPr>
              <a:t>	12,000₮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Asahi</a:t>
            </a:r>
            <a:r>
              <a:rPr sz="1150" b="1">
                <a:solidFill>
                  <a:srgbClr val="9C7A2E"/>
                </a:solidFill>
                <a:latin typeface="Georgia"/>
              </a:rPr>
              <a:t>	16,000₮</a:t>
            </a:r>
          </a:p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1700" b="1">
                <a:solidFill>
                  <a:srgbClr val="1B5E20"/>
                </a:solidFill>
                <a:latin typeface="Georgia"/>
              </a:rPr>
              <a:t>Зөөлөн ундаа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850" b="1">
                <a:solidFill>
                  <a:srgbClr val="9C7A2E"/>
                </a:solidFill>
                <a:latin typeface="Arial"/>
              </a:rPr>
              <a:t>УНДАА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Cola</a:t>
            </a:r>
            <a:r>
              <a:rPr sz="1150" b="1">
                <a:solidFill>
                  <a:srgbClr val="9C7A2E"/>
                </a:solidFill>
                <a:latin typeface="Georgia"/>
              </a:rPr>
              <a:t>	7,500₮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Sprite</a:t>
            </a:r>
            <a:r>
              <a:rPr sz="1150" b="1">
                <a:solidFill>
                  <a:srgbClr val="9C7A2E"/>
                </a:solidFill>
                <a:latin typeface="Georgia"/>
              </a:rPr>
              <a:t>	7,500₮</a:t>
            </a:r>
          </a:p>
          <a:p>
            <a:pPr>
              <a:spcBef>
                <a:spcPts val="700"/>
              </a:spcBef>
              <a:spcAft>
                <a:spcPts val="100"/>
              </a:spcAft>
              <a:tabLst>
                <a:tab pos="3200400" algn="r"/>
              </a:tabLst>
            </a:pPr>
            <a:r>
              <a:rPr sz="850" b="1">
                <a:solidFill>
                  <a:srgbClr val="9C7A2E"/>
                </a:solidFill>
                <a:latin typeface="Arial"/>
              </a:rPr>
              <a:t>РАШААН</a:t>
            </a:r>
            <a:r>
              <a:rPr sz="800">
                <a:solidFill>
                  <a:srgbClr val="778078"/>
                </a:solidFill>
                <a:latin typeface="Arial"/>
              </a:rPr>
              <a:t>	0.33 лааз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Terelj</a:t>
            </a:r>
            <a:r>
              <a:rPr sz="1150" b="1">
                <a:solidFill>
                  <a:srgbClr val="9C7A2E"/>
                </a:solidFill>
                <a:latin typeface="Georgia"/>
              </a:rPr>
              <a:t>	7,000₮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Selenge</a:t>
            </a:r>
            <a:r>
              <a:rPr sz="1150" b="1">
                <a:solidFill>
                  <a:srgbClr val="9C7A2E"/>
                </a:solidFill>
                <a:latin typeface="Georgia"/>
              </a:rPr>
              <a:t>	7,000₮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850" b="1">
                <a:solidFill>
                  <a:srgbClr val="9C7A2E"/>
                </a:solidFill>
                <a:latin typeface="Arial"/>
              </a:rPr>
              <a:t>УС БА ЖҮҮС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Bonaqua</a:t>
            </a:r>
            <a:r>
              <a:rPr sz="1150" b="1">
                <a:solidFill>
                  <a:srgbClr val="9C7A2E"/>
                </a:solidFill>
                <a:latin typeface="Georgia"/>
              </a:rPr>
              <a:t>	5,000₮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Frutta</a:t>
            </a:r>
            <a:r>
              <a:rPr sz="850">
                <a:solidFill>
                  <a:srgbClr val="778078"/>
                </a:solidFill>
                <a:latin typeface="Arial"/>
              </a:rPr>
              <a:t>  1L</a:t>
            </a:r>
            <a:r>
              <a:rPr sz="1150" b="1">
                <a:solidFill>
                  <a:srgbClr val="9C7A2E"/>
                </a:solidFill>
                <a:latin typeface="Georgia"/>
              </a:rPr>
              <a:t>	14,000₮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Frutta</a:t>
            </a:r>
            <a:r>
              <a:rPr sz="850">
                <a:solidFill>
                  <a:srgbClr val="778078"/>
                </a:solidFill>
                <a:latin typeface="Arial"/>
              </a:rPr>
              <a:t>  0.25L</a:t>
            </a:r>
            <a:r>
              <a:rPr sz="1150" b="1">
                <a:solidFill>
                  <a:srgbClr val="9C7A2E"/>
                </a:solidFill>
                <a:latin typeface="Georgia"/>
              </a:rPr>
              <a:t>	7,500₮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8768" y="2880360"/>
            <a:ext cx="3200400" cy="6949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1B5E20"/>
                </a:solidFill>
                <a:latin typeface="Georgia"/>
              </a:rPr>
              <a:t>Грилл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850" b="1">
                <a:solidFill>
                  <a:srgbClr val="9C7A2E"/>
                </a:solidFill>
                <a:latin typeface="Arial"/>
              </a:rPr>
              <a:t>ШОРЛОГ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Үхэр</a:t>
            </a:r>
            <a:r>
              <a:rPr sz="1150" b="1">
                <a:solidFill>
                  <a:srgbClr val="9C7A2E"/>
                </a:solidFill>
                <a:latin typeface="Georgia"/>
              </a:rPr>
              <a:t>	40,000₮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Хонь</a:t>
            </a:r>
            <a:r>
              <a:rPr sz="1150" b="1">
                <a:solidFill>
                  <a:srgbClr val="9C7A2E"/>
                </a:solidFill>
                <a:latin typeface="Georgia"/>
              </a:rPr>
              <a:t>	36,000₮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Тахиа</a:t>
            </a:r>
            <a:r>
              <a:rPr sz="1150" b="1">
                <a:solidFill>
                  <a:srgbClr val="9C7A2E"/>
                </a:solidFill>
                <a:latin typeface="Georgia"/>
              </a:rPr>
              <a:t>	30,000₮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850" b="1">
                <a:solidFill>
                  <a:srgbClr val="9C7A2E"/>
                </a:solidFill>
                <a:latin typeface="Arial"/>
              </a:rPr>
              <a:t>ХООЛ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Үхрийн махан бургер</a:t>
            </a:r>
            <a:r>
              <a:rPr sz="1150" b="1">
                <a:solidFill>
                  <a:srgbClr val="9C7A2E"/>
                </a:solidFill>
                <a:latin typeface="Georgia"/>
              </a:rPr>
              <a:t>	28,000₮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Зайдасны цуглуулга</a:t>
            </a:r>
            <a:r>
              <a:rPr sz="1150" b="1">
                <a:solidFill>
                  <a:srgbClr val="9C7A2E"/>
                </a:solidFill>
                <a:latin typeface="Georgia"/>
              </a:rPr>
              <a:t>	120,000₮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Шарсан төмс</a:t>
            </a:r>
            <a:r>
              <a:rPr sz="1150" b="1">
                <a:solidFill>
                  <a:srgbClr val="9C7A2E"/>
                </a:solidFill>
                <a:latin typeface="Georgia"/>
              </a:rPr>
              <a:t>	15,000₮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Зайдастай төмс</a:t>
            </a:r>
            <a:r>
              <a:rPr sz="1150" b="1">
                <a:solidFill>
                  <a:srgbClr val="9C7A2E"/>
                </a:solidFill>
                <a:latin typeface="Georgia"/>
              </a:rPr>
              <a:t>	21,000₮</a:t>
            </a:r>
          </a:p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1700" b="1">
                <a:solidFill>
                  <a:srgbClr val="1B5E20"/>
                </a:solidFill>
                <a:latin typeface="Georgia"/>
              </a:rPr>
              <a:t>Зууш</a:t>
            </a:r>
          </a:p>
          <a:p>
            <a:pPr>
              <a:spcBef>
                <a:spcPts val="700"/>
              </a:spcBef>
              <a:spcAft>
                <a:spcPts val="100"/>
              </a:spcAft>
              <a:tabLst>
                <a:tab pos="3200400" algn="r"/>
              </a:tabLst>
            </a:pPr>
            <a:r>
              <a:rPr sz="850" b="1">
                <a:solidFill>
                  <a:srgbClr val="9C7A2E"/>
                </a:solidFill>
                <a:latin typeface="Arial"/>
              </a:rPr>
              <a:t>САМАР</a:t>
            </a:r>
            <a:r>
              <a:rPr sz="800">
                <a:solidFill>
                  <a:srgbClr val="778078"/>
                </a:solidFill>
                <a:latin typeface="Arial"/>
              </a:rPr>
              <a:t>	150гр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Давстай</a:t>
            </a:r>
            <a:r>
              <a:rPr sz="1150" b="1">
                <a:solidFill>
                  <a:srgbClr val="9C7A2E"/>
                </a:solidFill>
                <a:latin typeface="Georgia"/>
              </a:rPr>
              <a:t>	12,000₮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Зөгийн балтай</a:t>
            </a:r>
            <a:r>
              <a:rPr sz="1150" b="1">
                <a:solidFill>
                  <a:srgbClr val="9C7A2E"/>
                </a:solidFill>
                <a:latin typeface="Georgia"/>
              </a:rPr>
              <a:t>	13,000₮</a:t>
            </a:r>
          </a:p>
          <a:p>
            <a:pPr>
              <a:spcBef>
                <a:spcPts val="700"/>
              </a:spcBef>
              <a:spcAft>
                <a:spcPts val="100"/>
              </a:spcAft>
              <a:tabLst>
                <a:tab pos="3200400" algn="r"/>
              </a:tabLst>
            </a:pPr>
            <a:r>
              <a:rPr sz="850" b="1">
                <a:solidFill>
                  <a:srgbClr val="9C7A2E"/>
                </a:solidFill>
                <a:latin typeface="Arial"/>
              </a:rPr>
              <a:t>DORITOS</a:t>
            </a:r>
            <a:r>
              <a:rPr sz="800">
                <a:solidFill>
                  <a:srgbClr val="778078"/>
                </a:solidFill>
                <a:latin typeface="Arial"/>
              </a:rPr>
              <a:t>	130гр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Nacho</a:t>
            </a:r>
            <a:r>
              <a:rPr sz="1150" b="1">
                <a:solidFill>
                  <a:srgbClr val="9C7A2E"/>
                </a:solidFill>
                <a:latin typeface="Georgia"/>
              </a:rPr>
              <a:t>	20,000₮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Taco</a:t>
            </a:r>
            <a:r>
              <a:rPr sz="1150" b="1">
                <a:solidFill>
                  <a:srgbClr val="9C7A2E"/>
                </a:solidFill>
                <a:latin typeface="Georgia"/>
              </a:rPr>
              <a:t>	20,000₮</a:t>
            </a:r>
          </a:p>
          <a:p>
            <a:pPr>
              <a:spcBef>
                <a:spcPts val="700"/>
              </a:spcBef>
              <a:spcAft>
                <a:spcPts val="100"/>
              </a:spcAft>
              <a:tabLst>
                <a:tab pos="3200400" algn="r"/>
              </a:tabLst>
            </a:pPr>
            <a:r>
              <a:rPr sz="850" b="1">
                <a:solidFill>
                  <a:srgbClr val="9C7A2E"/>
                </a:solidFill>
                <a:latin typeface="Arial"/>
              </a:rPr>
              <a:t>LAY'S</a:t>
            </a:r>
            <a:r>
              <a:rPr sz="800">
                <a:solidFill>
                  <a:srgbClr val="778078"/>
                </a:solidFill>
                <a:latin typeface="Arial"/>
              </a:rPr>
              <a:t>	140гр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Paprika</a:t>
            </a:r>
            <a:r>
              <a:rPr sz="1150" b="1">
                <a:solidFill>
                  <a:srgbClr val="9C7A2E"/>
                </a:solidFill>
                <a:latin typeface="Georgia"/>
              </a:rPr>
              <a:t>	25,000₮</a:t>
            </a:r>
          </a:p>
          <a:p>
            <a:pPr>
              <a:spcBef>
                <a:spcPts val="300"/>
              </a:spcBef>
              <a:spcAft>
                <a:spcPts val="0"/>
              </a:spcAft>
              <a:tabLst>
                <a:tab pos="3200400" algn="r"/>
              </a:tabLst>
            </a:pPr>
            <a:r>
              <a:rPr sz="1150">
                <a:solidFill>
                  <a:srgbClr val="242C26"/>
                </a:solidFill>
                <a:latin typeface="Arial"/>
              </a:rPr>
              <a:t>Шорлогтой</a:t>
            </a:r>
            <a:r>
              <a:rPr sz="1150" b="1">
                <a:solidFill>
                  <a:srgbClr val="9C7A2E"/>
                </a:solidFill>
                <a:latin typeface="Georgia"/>
              </a:rPr>
              <a:t>	25,000₮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104120"/>
            <a:ext cx="66476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78078"/>
                </a:solidFill>
                <a:latin typeface="Arial"/>
              </a:rPr>
              <a:t>Бүх үнэ ₮.  НӨАТ болон хотын татвар багтсан.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